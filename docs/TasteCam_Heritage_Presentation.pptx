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5029200"/>
            <a:ext cx="3200400" cy="18288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4572000"/>
            <a:ext cx="2743200" cy="2286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86A17"/>
                </a:solidFill>
                <a:latin typeface="Calibri"/>
              </a:defRPr>
            </a:pPr>
            <a:r>
              <a:t>TasteCam Heritage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Preservation of Cameroonian Culinary Heritage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F0F0"/>
                </a:solidFill>
                <a:latin typeface="Calibri"/>
              </a:defRPr>
            </a:pPr>
            <a:r>
              <a:t>SEN3244 — Software Architecture — Final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114800"/>
            <a:ext cx="3657600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Calibri"/>
              </a:defRPr>
            </a:pPr>
            <a:r>
              <a:t>Abomo Mvogo Therese Damaris  |  ICTU20241280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0"/>
                </a:solidFill>
                <a:latin typeface="Calibri"/>
              </a:defRPr>
            </a:pPr>
            <a:r>
              <a:t>Instructor: Engr. Tekoh Palma  |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7315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 We're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Traditional Cameroonian recipes are transmitted orally across generations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Risk of cultural loss due to urbanization and globalization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No centralized platform dedicated to Cameroonian cuisine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Diaspora communities struggle to preserve their culinary heritage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0" y="1371600"/>
            <a:ext cx="3017520" cy="3657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164592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0"/>
                </a:solidFill>
                <a:latin typeface="Calibri"/>
              </a:defRPr>
            </a:pPr>
            <a:r>
              <a:t>🔴</a:t>
            </a:r>
            <a:br/>
            <a:br/>
            <a:r>
              <a:t>Oral traditions fade</a:t>
            </a:r>
            <a:br/>
            <a:br/>
            <a:r>
              <a:t>Urbanization accelerates loss</a:t>
            </a:r>
            <a:br/>
            <a:br/>
            <a:r>
              <a:t>No digital archive exists</a:t>
            </a:r>
            <a:br/>
            <a:br/>
            <a:r>
              <a:t>Diaspora disconnected from roots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7315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TasteCam Heritage —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✅ Create a digital repository of Cameroonian recipes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✅ Bilingual experience (French / English)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✅ Modern architecture: Docker, K8s, CI/CD, Monitoring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✅ Automated testing with ≥ 80% code coverage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✅ Complete documentation (Swagger, Architecture, Report)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A17"/>
                </a:solidFill>
                <a:latin typeface="Calibri"/>
              </a:defRPr>
            </a:pPr>
            <a:r>
              <a:t>Value Proposition: Combining modern technology with cultural preservation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7315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8B2C"/>
                </a:solidFill>
                <a:latin typeface="Calibri"/>
              </a:defRPr>
            </a:pPr>
            <a:r>
              <a:t>Layered Architecture — 3 Tiers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2286000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Presentation Layer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React + Vite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2011680"/>
            <a:ext cx="2286000" cy="109728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Business Layer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Node.js + Express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2011680"/>
            <a:ext cx="2286000" cy="10972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 Layer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PostgreSQL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840480"/>
            <a:ext cx="2286000" cy="9144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Monitoring</a:t>
            </a:r>
          </a:p>
          <a:p>
            <a:pPr algn="ctr">
              <a:defRPr sz="1100">
                <a:solidFill>
                  <a:srgbClr val="F0F0F0"/>
                </a:solidFill>
              </a:defRPr>
            </a:pPr>
            <a:r>
              <a:t>Prometheus + Grafana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3840480"/>
            <a:ext cx="2286000" cy="9144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Containerization</a:t>
            </a:r>
          </a:p>
          <a:p>
            <a:pPr algn="ctr">
              <a:defRPr sz="1100">
                <a:solidFill>
                  <a:srgbClr val="F0F0F0"/>
                </a:solidFill>
              </a:defRPr>
            </a:pPr>
            <a:r>
              <a:t>Docker + K8s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3840480"/>
            <a:ext cx="2286000" cy="9144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CI/CD</a:t>
            </a:r>
          </a:p>
          <a:p>
            <a:pPr algn="ctr">
              <a:defRPr sz="1100">
                <a:solidFill>
                  <a:srgbClr val="F0F0F0"/>
                </a:solidFill>
              </a:defRPr>
            </a:pPr>
            <a:r>
              <a:t>Jenkins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7315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8229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4572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E86A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E86A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E86A1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React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Frontend UI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Vite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Build tool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Node.js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Runtime backend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Express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API framework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PostgreSQL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Docker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latest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Containerization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Kubernetes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1.27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Orchestration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Jenkins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LTS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CI/CD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Prometheus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2.x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Grafana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10.x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Dashboards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Ansible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latest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IaC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Jest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7315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UML Diagrams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474720" cy="41148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A17"/>
                </a:solidFill>
                <a:latin typeface="Calibri"/>
              </a:defRPr>
            </a:pPr>
            <a:r>
              <a:t>Use Case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1371600" cy="2743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User → Search Recipes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User → View Details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User → Calculate Portions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User → Switch Language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Admin → Manage Recipes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Admin → View Metrics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645920"/>
            <a:ext cx="3474720" cy="41148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A17"/>
                </a:solidFill>
                <a:latin typeface="Calibri"/>
              </a:defRPr>
            </a:pPr>
            <a:r>
              <a:t>Class Diagram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2286000"/>
            <a:ext cx="1371600" cy="2743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5603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Recipe: id, name, region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Ingredient: id, name, qty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Region: id, name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Recipe ↔ Ingredient (M:N)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Recipe → Region (N:1)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645920"/>
            <a:ext cx="3474720" cy="41148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A17"/>
                </a:solidFill>
                <a:latin typeface="Calibri"/>
              </a:defRPr>
            </a:pPr>
            <a:r>
              <a:t>Sequence Diagram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286000"/>
            <a:ext cx="1371600" cy="2743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5603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User → Browser: Search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Browser → API: GET /search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API → PostgreSQL: Query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PostgreSQL → API: Results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API → Browser: JSON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Browser → User: Display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7315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Database Schema (PostgreSQL)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9144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RECIPES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id (PK)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region_id (FK)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origin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portions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645920"/>
            <a:ext cx="2286000" cy="9144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RECIPE_</a:t>
            </a:r>
            <a:br/>
            <a:r>
              <a:t>INGREDIENTS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603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id (PK)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346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recipe_id (FK)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1089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ingredient_id (FK)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832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quantity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1645920"/>
            <a:ext cx="2286000" cy="9144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INGREDIENTS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5603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id (PK)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8346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name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3474720"/>
            <a:ext cx="2286000" cy="9144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REGIONS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3891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id (PK)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6634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937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description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0"/>
                </a:solidFill>
                <a:latin typeface="Calibri"/>
              </a:defRPr>
            </a:pPr>
            <a:r>
              <a:t>Key Points:</a:t>
            </a:r>
            <a:br/>
            <a:r>
              <a:t>• Many-to-many relationship (recipes ↔ ingredients)</a:t>
            </a:r>
            <a:br/>
            <a:r>
              <a:t>• Each recipe linked to a region of origin</a:t>
            </a:r>
            <a:br/>
            <a:r>
              <a:t>• Bilingual support for all text fields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7315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Quality Attributes &amp; Trade-offs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274320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Quality</a:t>
                      </a:r>
                    </a:p>
                  </a:txBody>
                  <a:tcPr>
                    <a:solidFill>
                      <a:srgbClr val="E86A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Implementation</a:t>
                      </a:r>
                    </a:p>
                  </a:txBody>
                  <a:tcPr>
                    <a:solidFill>
                      <a:srgbClr val="E86A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Trade-off</a:t>
                      </a:r>
                    </a:p>
                  </a:txBody>
                  <a:tcPr>
                    <a:solidFill>
                      <a:srgbClr val="E86A17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Scalability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K8s multi-pods, RollingUpdate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 Operational complexity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API &lt; 50ms, Cache-ready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 Network latency between services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CORS, JWT, env vars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 Auth overhead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Maintainability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Modular code, Swagger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 More files to manage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Availability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Health probes, auto-restart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 Resource consumption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Testability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Jest, Supertest, coverage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 Test writing time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7315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Frontend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10 Cameroonian recipes with real photos (Eru, Ndolé, Achu, Okok, Koki...)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Search by ingredient, dish name, or region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Dynamic portion calculation (auto-adjust quantities)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Bilingual French/English (interface + data)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Responsive design (mobile + desktop)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A17"/>
                </a:solidFill>
                <a:latin typeface="Calibri"/>
              </a:defRPr>
            </a:pPr>
            <a:r>
              <a:t>List view + Detail view side by side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7315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REST API Endpoints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37160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E86A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E86A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E86A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/api/health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Health check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/api/recipes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List all recipes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/api/recipes/:id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Recipe details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/api/recipes/search?ingredient=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Search by ingredient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/api/metrics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Prometheus metrics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/api/docs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Swagger UI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303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6A17"/>
                </a:solidFill>
                <a:latin typeface="Calibri"/>
              </a:defRPr>
            </a:pPr>
            <a:r>
              <a:t>Documentation: OpenAPI 3.0 (YAML) + Swagger UI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7315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Testing Strategy — 92.53%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3 test categories: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• Unit Tests → Controller (5 tests)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• Integration Tests → API Routes via Supertest (7 tests)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• Documentation Tests → Swagger validation (6 tests)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Results: 18 tests — 18 passed ✅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645920"/>
            <a:ext cx="4114800" cy="41148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828800"/>
            <a:ext cx="37490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Key Coverage Metrics: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Statements:  100%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Branches:    91.66%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Functions:   84.61%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Lines:       92.3%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Threshold: 80% — Exceeded! 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7315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Docker Containerization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Docker Images: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• tastecam-backend:latest (Node.js 20-alpine)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• tastecam-frontend:latest (Vite static build)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Docker Compose — 5 services: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1. db → PostgreSQL 15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2. backend → Express API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3. frontend → React SPA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4. prometheus → Metrics collection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5. grafana → Dashboard (port 3001)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7315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Kubernetes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K8s Manifests (6 files):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• secrets.yaml → DATABASE_URL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• postgres.yaml → StatefulSet + Service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• backend-deployment.yaml → 2 replicas, RollingUpdate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• backend-service.yaml → ClusterIP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• frontend-deployment.yaml → 2 replicas, RollingUpdate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• frontend-service.yaml → NodePort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Strategy: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• RollingUpdate: maxUnavailable=0, maxSurge=1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• Readiness probe: /api/health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• Liveness probe: /api/health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7315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CI/CD Pipeline (Jenkins)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1645920" cy="7315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Checkout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377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39" y="2286000"/>
            <a:ext cx="1645920" cy="7315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Install Dependencies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59" y="2377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2286000"/>
            <a:ext cx="1645920" cy="7315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Backend Tests +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79" y="2377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79" y="2286000"/>
            <a:ext cx="1645920" cy="7315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Build 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999" y="2377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286000"/>
            <a:ext cx="1645920" cy="7315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5. Build Docker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2377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04120" y="2286000"/>
            <a:ext cx="1645920" cy="7315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6. Docker Compose Smoke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0"/>
                </a:solidFill>
                <a:latin typeface="Calibri"/>
              </a:defRPr>
            </a:pPr>
            <a:r>
              <a:t>Trigger: Push to GitHub  |  Post-build: docker ps -a (container verification)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7315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Continuous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Prometheus Metrics: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tastecam_uptime_seconds → Service uptime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tastecam_http_requests_total → Total requests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tastecam_recipes_total → Recipe count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tastecam_up → Status (1 = alive)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• tastecam_request_duration_ms → Latency distribution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Grafana Dashboard — 4 panels: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1. API Health (stat)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2. HTTP Requests Rate (graph)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3. Request Duration P95 (graph)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4. Total Recipes (stat)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7315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Infrastructure as Code &amp; Agile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303520" cy="41148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A17"/>
                </a:solidFill>
                <a:latin typeface="Calibri"/>
              </a:defRPr>
            </a:pPr>
            <a:r>
              <a:t>Ansible (2 playbooks)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playbook-install.yml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→ Node.js, Docker, PM2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playbook-deploy.yml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→ Clone repo, npm install, start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A17"/>
                </a:solidFill>
                <a:latin typeface="Calibri"/>
              </a:defRPr>
            </a:pPr>
            <a:r>
              <a:t>Scrum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7744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Roles: Product Owner, Scrum Master, Dev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Product Backlog: 10 prioritized items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Sprints: 2 (MVP + Features)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Burndown: 25 → 0 story points in 10 days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7315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Deployment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Internet → Render.com / VPS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  ↓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[Ingress Controller]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  ↓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[Frontend Pods (×2)]  ←→  [Backend Pods (×2)]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                         ↓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                   [PostgreSQL]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                         ↓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              [Prometheus + Grafana]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External Services: GitHub, Jenkins, Docker Hub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7315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Innovation &amp; Originality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1. Cultural preservation through technology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• 10 authentic Cameroonian recipes documented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• Cultural origins, regions, and stories preserved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2. Complete bilingual system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• Not just UI — data is bilingual too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• Names, ingredients, steps in FR/EN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3. Scalable architecture demonstrated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• MVP monolith → Microservices-ready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• Full CI/CD, monitoring, IaC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7315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Challenges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303520" cy="3200400"/>
          </a:xfrm>
          <a:prstGeom prst="rect">
            <a:avLst/>
          </a:prstGeom>
          <a:solidFill>
            <a:srgbClr val="5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Calibri"/>
              </a:defRPr>
            </a:pPr>
            <a:r>
              <a:t>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Time constraint (MVP in 5h)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Jenkins multi-stage pipeline setup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Cultural research for authentic recipes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303520" cy="3200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7744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Microservices (Auth, Recommendations)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Community recipe submission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React Native mobile app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AI-powered recommendations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Cloud deployment (AWS/GCP)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6A17"/>
                </a:solidFill>
                <a:latin typeface="Calibri"/>
              </a:defRPr>
            </a:pPr>
            <a:r>
              <a:t>Thank You — Questions?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371600"/>
          <a:ext cx="50292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Section</a:t>
                      </a:r>
                    </a:p>
                  </a:txBody>
                  <a:tcPr>
                    <a:solidFill>
                      <a:srgbClr val="E86A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Points</a:t>
                      </a:r>
                    </a:p>
                  </a:txBody>
                  <a:tcPr>
                    <a:solidFill>
                      <a:srgbClr val="E86A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E86A1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Infrastructure Setup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Agile/Scrum Application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CI/CD Pipeline (Jenkins)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Monitoring (Prometheus/Grafana)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Infrastructure as Code (Ansible)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Testing (92.53% coverage)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Docker + Kubernetes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Architecture Design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 Innovation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Documentation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Part A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110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0F0"/>
                </a:solidFill>
                <a:latin typeface="Calibri"/>
              </a:defRPr>
            </a:pPr>
            <a:r>
              <a:t>GitHub: https://github.com/abomomvogoth/Dam-Merveille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